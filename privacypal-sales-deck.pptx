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554480"/>
            <a:ext cx="6766560" cy="6766560"/>
          </a:xfrm>
          <a:prstGeom prst="ellipse">
            <a:avLst/>
          </a:prstGeom>
          <a:solidFill>
            <a:srgbClr val="12A7B5">
              <a:alpha val="10000"/>
            </a:srgbClr>
          </a:solidFill>
          <a:ln/>
        </p:spPr>
      </p:sp>
      <p:pic>
        <p:nvPicPr>
          <p:cNvPr id="3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0080"/>
            <a:ext cx="2194560" cy="60789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166878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5" name="Text 2"/>
          <p:cNvSpPr/>
          <p:nvPr/>
        </p:nvSpPr>
        <p:spPr>
          <a:xfrm>
            <a:off x="1033272" y="160020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ON-DEVICE AI PRIVACY &amp; GOVERNANCE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31520" y="2194560"/>
            <a:ext cx="10515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3000"/>
              </a:lnSpc>
              <a:buNone/>
            </a:pPr>
            <a:r>
              <a:rPr lang="en-US" sz="10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Safe AI.</a:t>
            </a:r>
            <a:endParaRPr lang="en-US" sz="10000" dirty="0"/>
          </a:p>
          <a:p>
            <a:pPr indent="0" marL="0">
              <a:lnSpc>
                <a:spcPct val="93000"/>
              </a:lnSpc>
              <a:buNone/>
            </a:pPr>
            <a:r>
              <a:rPr lang="en-US" sz="10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Anywhere.</a:t>
            </a:r>
            <a:endParaRPr lang="en-US" sz="10000" dirty="0"/>
          </a:p>
        </p:txBody>
      </p:sp>
      <p:sp>
        <p:nvSpPr>
          <p:cNvPr id="7" name="Text 4"/>
          <p:cNvSpPr/>
          <p:nvPr/>
        </p:nvSpPr>
        <p:spPr>
          <a:xfrm>
            <a:off x="777240" y="50749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On-device data protection for every AI interaction.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77240" y="580644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12A7B5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20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a demo  →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028391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WHO WE ARE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1554480"/>
            <a:ext cx="2743200" cy="2743200"/>
          </a:xfrm>
          <a:prstGeom prst="ellipse">
            <a:avLst/>
          </a:prstGeom>
          <a:solidFill>
            <a:srgbClr val="01142F"/>
          </a:solidFill>
          <a:ln w="31750">
            <a:solidFill>
              <a:srgbClr val="12A7B5"/>
            </a:solidFill>
            <a:prstDash val="solid"/>
          </a:ln>
        </p:spPr>
      </p:sp>
      <p:pic>
        <p:nvPicPr>
          <p:cNvPr id="6" name="Image 0" descr="assets/jason-mel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2560320" cy="2560320"/>
          </a:xfrm>
          <a:prstGeom prst="ellipse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60520" y="1417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Jason Melo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4160520" y="2286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Two-time unicorn founder. CEO, PrivacyPal.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60520" y="2880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BACKED BY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06440" y="28803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Fastweb + Vodafone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4160520" y="3355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PARTNER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806440" y="33558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NVIDIA Inception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4160520" y="383133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06440" y="383133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10M+ records scanned and protected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4160520" y="43068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FEATURED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806440" y="430682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Plug and Play Silicon Valley Summit — 4,000 attendees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4160520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“We didn't build a feature. We built an architecture.”</a:t>
            </a:r>
            <a:endParaRPr lang="en-US" sz="2000" dirty="0"/>
          </a:p>
        </p:txBody>
      </p:sp>
      <p:pic>
        <p:nvPicPr>
          <p:cNvPr id="18" name="Image 1" descr="assets/pp-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3200400"/>
            <a:ext cx="5486400" cy="5486400"/>
          </a:xfrm>
          <a:prstGeom prst="ellipse">
            <a:avLst/>
          </a:prstGeom>
          <a:solidFill>
            <a:srgbClr val="12A7B5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BACKED BY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77240" y="1051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names behind us.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66648" y="228600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5F0E8"/>
          </a:solidFill>
          <a:ln/>
        </p:spPr>
      </p:sp>
      <p:pic>
        <p:nvPicPr>
          <p:cNvPr id="7" name="Image 0" descr="assets/vodafone-fastwe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23848" y="2670048"/>
            <a:ext cx="2194560" cy="6035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41368" y="228600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5F0E8"/>
          </a:solidFill>
          <a:ln/>
        </p:spPr>
      </p:sp>
      <p:pic>
        <p:nvPicPr>
          <p:cNvPr id="9" name="Image 1" descr="assets/nvidia-incep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98568" y="2670048"/>
            <a:ext cx="2194560" cy="60350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016088" y="228600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F5F0E8"/>
          </a:solidFill>
          <a:ln/>
        </p:spPr>
      </p:sp>
      <p:pic>
        <p:nvPicPr>
          <p:cNvPr id="11" name="Image 2" descr="assets/plug-and-pla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73288" y="2670048"/>
            <a:ext cx="2194560" cy="60350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0" y="39319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FINANCE   ·   HEALTHCARE   ·   LEGAL   ·   TECHNOLOGY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0" y="452628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10M</a:t>
            </a:r>
            <a:pPr algn="ctr" indent="0" marL="0">
              <a:buNone/>
            </a:pPr>
            <a:r>
              <a:rPr lang="en-US" sz="96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</a:t>
            </a:r>
            <a:endParaRPr lang="en-US" sz="9600" dirty="0"/>
          </a:p>
        </p:txBody>
      </p:sp>
      <p:sp>
        <p:nvSpPr>
          <p:cNvPr id="14" name="Text 9"/>
          <p:cNvSpPr/>
          <p:nvPr/>
        </p:nvSpPr>
        <p:spPr>
          <a:xfrm>
            <a:off x="0" y="580644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RECORDS PROTECTED</a:t>
            </a:r>
            <a:endParaRPr lang="en-US" sz="1200" dirty="0"/>
          </a:p>
        </p:txBody>
      </p:sp>
      <p:pic>
        <p:nvPicPr>
          <p:cNvPr id="15" name="Image 3" descr="assets/pp-logo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/bg-shad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42F">
              <a:alpha val="8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558851" cy="6858000"/>
          </a:xfrm>
          <a:prstGeom prst="rect">
            <a:avLst/>
          </a:prstGeom>
          <a:solidFill>
            <a:srgbClr val="01142F">
              <a:alpha val="9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1188720"/>
            <a:ext cx="128016" cy="4480560"/>
          </a:xfrm>
          <a:prstGeom prst="rect">
            <a:avLst/>
          </a:prstGeom>
          <a:solidFill>
            <a:srgbClr val="D54751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D54751"/>
          </a:solidFill>
          <a:ln/>
        </p:spPr>
      </p:sp>
      <p:sp>
        <p:nvSpPr>
          <p:cNvPr id="7" name="Text 4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547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SHADOW AI PROBLEM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1325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Does your team use ChatGPT?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you know what they're </a:t>
            </a:r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D5475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pasting into it?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prompt is a data event.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77240" y="3794760"/>
            <a:ext cx="1375258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3794760"/>
            <a:ext cx="1375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Customer PII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298802" y="3794760"/>
            <a:ext cx="1818742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98802" y="3794760"/>
            <a:ext cx="18187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Financial records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63847" y="3794760"/>
            <a:ext cx="1286561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63847" y="3794760"/>
            <a:ext cx="128656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Health data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96712" y="3794760"/>
            <a:ext cx="2262226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96712" y="3794760"/>
            <a:ext cx="22622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code &amp; API keys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05242" y="3794760"/>
            <a:ext cx="2528316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05242" y="3794760"/>
            <a:ext cx="25283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Proprietary strategy docs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7724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firewall can't see it.  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DLP can't stop it.   </a:t>
            </a:r>
            <a:pPr indent="0" marL="0">
              <a:buNone/>
            </a:pPr>
            <a:r>
              <a:rPr lang="en-US" sz="190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happening right now.</a:t>
            </a:r>
            <a:endParaRPr lang="en-US" sz="1900" dirty="0"/>
          </a:p>
        </p:txBody>
      </p:sp>
      <p:pic>
        <p:nvPicPr>
          <p:cNvPr id="21" name="Image 1" descr="assets/pp-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GOVERNANCE LAYER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Teams run 10+ AI agents. PrivacyPal governs the </a:t>
            </a:r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space in between</a:t>
            </a:r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3200400" cy="2468880"/>
          </a:xfrm>
          <a:prstGeom prst="roundRect">
            <a:avLst>
              <a:gd name="adj" fmla="val 5185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YOUR DATA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Sensitive information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42062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PII · Financials · Source code · Strategy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480560" y="2697480"/>
            <a:ext cx="3200400" cy="2468880"/>
          </a:xfrm>
          <a:prstGeom prst="roundRect">
            <a:avLst>
              <a:gd name="adj" fmla="val 5185"/>
            </a:avLst>
          </a:prstGeom>
          <a:solidFill>
            <a:srgbClr val="028391"/>
          </a:solidFill>
          <a:ln/>
          <a:effectLst>
            <a:outerShdw sx="100000" sy="100000" kx="0" ky="0" algn="bl" rotWithShape="0" blurRad="228600" dist="76200" dir="54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29535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32644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Govern. Protect. Enable.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754880" y="38862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Data Privacy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419709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Controls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45079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Usage Audit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481888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Compliance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83880" y="2697480"/>
            <a:ext cx="3200400" cy="2468880"/>
          </a:xfrm>
          <a:prstGeom prst="roundRect">
            <a:avLst>
              <a:gd name="adj" fmla="val 5185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 PRODUCTION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</a:t>
            </a:r>
            <a:pPr indent="0" marL="0">
              <a:buNone/>
            </a:pPr>
            <a:r>
              <a:rPr lang="en-US" sz="6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8458200" y="42062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Agents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58200" y="45720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ChatGPT · Claude · Copilot · Gemini · Cursor · Custom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50792" y="3657600"/>
            <a:ext cx="35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754112" y="3657600"/>
            <a:ext cx="35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77240" y="55778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CISO stops being the blocker. Your team moves at </a:t>
            </a:r>
            <a:pPr indent="0" marL="0">
              <a:buNone/>
            </a:pPr>
            <a:r>
              <a:rPr lang="en-US" sz="22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speed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2200" dirty="0"/>
          </a:p>
        </p:txBody>
      </p:sp>
      <p:pic>
        <p:nvPicPr>
          <p:cNvPr id="24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D54751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D547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OLD APPROACH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old approach kills the output.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5074920" cy="2286000"/>
          </a:xfrm>
          <a:prstGeom prst="roundRect">
            <a:avLst>
              <a:gd name="adj" fmla="val 56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5603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INPUT · TRADITIONAL DLP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3017520"/>
            <a:ext cx="4434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Prepare a financial summary for </a:t>
            </a:r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D547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[CLIENT NAME]</a:t>
            </a:r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showing Q3 revenue of </a:t>
            </a:r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D547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$4.2M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09360" y="2286000"/>
            <a:ext cx="5074920" cy="2286000"/>
          </a:xfrm>
          <a:prstGeom prst="roundRect">
            <a:avLst>
              <a:gd name="adj" fmla="val 5600"/>
            </a:avLst>
          </a:prstGeom>
          <a:solidFill>
            <a:srgbClr val="01142F"/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29400" y="25603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OUTPUT · WHAT THE AI SEES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29400" y="3017520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Prepare a financial summary for [REDACTED] showing Q3 revenue of [REDACTED]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629400" y="40690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547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AI can't process it. Output is useless. Team bypasses the tool.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4892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tradeoff between security and productivity shouldn't exist.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77240" y="5669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Redaction breaks context.    </a:t>
            </a:r>
            <a:pPr indent="0" marL="0">
              <a:buNone/>
            </a:pPr>
            <a:r>
              <a:rPr lang="en-US" sz="150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Redaction breaks accuracy.    </a:t>
            </a:r>
            <a:pPr indent="0" marL="0">
              <a:buNone/>
            </a:pPr>
            <a:r>
              <a:rPr lang="en-US" sz="150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Redaction breaks adoption.</a:t>
            </a:r>
            <a:endParaRPr lang="en-US" sz="1500" dirty="0"/>
          </a:p>
        </p:txBody>
      </p:sp>
      <p:pic>
        <p:nvPicPr>
          <p:cNvPr id="14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371600"/>
            <a:ext cx="6400800" cy="6400800"/>
          </a:xfrm>
          <a:prstGeom prst="ellipse">
            <a:avLst/>
          </a:prstGeom>
          <a:solidFill>
            <a:srgbClr val="12A7B5">
              <a:alpha val="9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2A7B5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INTRODUCING PRIVACYPAL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77240" y="109728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AI privacy layer that doesn't break your workflow.</a:t>
            </a:r>
            <a:endParaRPr lang="en-US" sz="4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99008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29718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On-device protection — data never leaves your machine</a:t>
            </a:r>
            <a:endParaRPr lang="en-US" sz="1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53872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 across every AI tool your team uses</a:t>
            </a:r>
            <a:endParaRPr lang="en-US" sz="19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87368"/>
            <a:ext cx="274320" cy="2743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40690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 extension + desktop app</a:t>
            </a:r>
            <a:endParaRPr lang="en-US" sz="19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636008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34440" y="4617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install. Full coverage.</a:t>
            </a:r>
            <a:endParaRPr lang="en-US" sz="19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184648"/>
            <a:ext cx="274320" cy="2743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34440" y="51663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learning curve — runs silently in the background</a:t>
            </a:r>
            <a:endParaRPr lang="en-US" sz="1900" dirty="0"/>
          </a:p>
        </p:txBody>
      </p:sp>
      <p:sp>
        <p:nvSpPr>
          <p:cNvPr id="17" name="Text 10"/>
          <p:cNvSpPr/>
          <p:nvPr/>
        </p:nvSpPr>
        <p:spPr>
          <a:xfrm>
            <a:off x="777240" y="5806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Simple. Powerful. Private.</a:t>
            </a:r>
            <a:endParaRPr lang="en-US" sz="2600" dirty="0"/>
          </a:p>
        </p:txBody>
      </p:sp>
      <p:pic>
        <p:nvPicPr>
          <p:cNvPr id="18" name="Image 5" descr="assets/pp-logo-l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Privacy Twins™ — </a:t>
            </a:r>
            <a:pPr indent="0" marL="0">
              <a:buNone/>
            </a:pPr>
            <a:r>
              <a:rPr lang="en-US" sz="3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swap, process, restore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 TWIN · 18 HIPAA IDENTIFIERS · CONTEXTUAL SWAP · §164.514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77240" y="2194560"/>
            <a:ext cx="4572000" cy="1600200"/>
          </a:xfrm>
          <a:prstGeom prst="roundRect">
            <a:avLst>
              <a:gd name="adj" fmla="val 8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377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547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① WHAT YOU TYPE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2697480"/>
            <a:ext cx="4059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"My patient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Margaret Chen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recent MI,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MRN 4471-8829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presented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March 14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chest pain. Workup?"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720840" y="2194560"/>
            <a:ext cx="4572000" cy="1600200"/>
          </a:xfrm>
          <a:prstGeom prst="roundRect">
            <a:avLst>
              <a:gd name="adj" fmla="val 8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76872" y="2377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② WHAT THE AI SEES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76872" y="2697480"/>
            <a:ext cx="4059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"My patient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Nancy Grace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recent MI,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MRN 8826-3142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presented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 22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with chest pain. Workup?"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977640"/>
            <a:ext cx="4572000" cy="1600200"/>
          </a:xfrm>
          <a:prstGeom prst="roundRect">
            <a:avLst>
              <a:gd name="adj" fmla="val 8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4160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④ WHAT YOU GET BACK · RESTORED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33272" y="4480560"/>
            <a:ext cx="4059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Margaret Chen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12-lead ECG + serial troponins, aspirin + nitrate, admit cardiology.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720840" y="3977640"/>
            <a:ext cx="4572000" cy="1600200"/>
          </a:xfrm>
          <a:prstGeom prst="roundRect">
            <a:avLst>
              <a:gd name="adj" fmla="val 8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6872" y="4160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③ WHAT THE AI RETURNS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76872" y="4480560"/>
            <a:ext cx="4059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</a:t>
            </a:r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Nancy Grace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12-lead ECG + serial troponins, aspirin + nitrate, admit cardiology.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742432" y="2702052"/>
            <a:ext cx="585216" cy="585216"/>
          </a:xfrm>
          <a:prstGeom prst="ellipse">
            <a:avLst/>
          </a:prstGeom>
          <a:solidFill>
            <a:srgbClr val="12A7B5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8736" y="2848356"/>
            <a:ext cx="292608" cy="292608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486400" y="330555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SWAP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742432" y="4485132"/>
            <a:ext cx="585216" cy="585216"/>
          </a:xfrm>
          <a:prstGeom prst="ellipse">
            <a:avLst/>
          </a:prstGeom>
          <a:solidFill>
            <a:srgbClr val="4DA394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736" y="4631436"/>
            <a:ext cx="292608" cy="29260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0" y="508863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RESTORE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777240" y="5806440"/>
            <a:ext cx="2319833" cy="420624"/>
          </a:xfrm>
          <a:prstGeom prst="roundRect">
            <a:avLst>
              <a:gd name="adj" fmla="val 50000"/>
            </a:avLst>
          </a:prstGeom>
          <a:solidFill>
            <a:srgbClr val="4DA394"/>
          </a:solidFill>
          <a:ln/>
        </p:spPr>
      </p:sp>
      <p:sp>
        <p:nvSpPr>
          <p:cNvPr id="25" name="Text 21"/>
          <p:cNvSpPr/>
          <p:nvPr/>
        </p:nvSpPr>
        <p:spPr>
          <a:xfrm>
            <a:off x="777240" y="5806440"/>
            <a:ext cx="231983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120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100% Accurate Results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3261665" y="5806440"/>
            <a:ext cx="2497226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261665" y="5806440"/>
            <a:ext cx="249722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Clinical Context Intact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5923483" y="5806440"/>
            <a:ext cx="2231136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23483" y="5806440"/>
            <a:ext cx="2231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Zero PHI on the Wire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8319211" y="5806440"/>
            <a:ext cx="178765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319211" y="5806440"/>
            <a:ext cx="17876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No BAA Required</a:t>
            </a:r>
            <a:endParaRPr lang="en-US" sz="1250" dirty="0"/>
          </a:p>
        </p:txBody>
      </p:sp>
      <p:pic>
        <p:nvPicPr>
          <p:cNvPr id="32" name="Image 2" descr="assets/pp-logo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GOVERNANCE &amp; VISIBILITY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Stop guessing. </a:t>
            </a:r>
            <a:pPr indent="0" marL="0">
              <a:buNone/>
            </a:pPr>
            <a:r>
              <a:rPr lang="en-US" sz="42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 seeing</a:t>
            </a:r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Comprehensive Audit Log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7004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61288" y="2651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prompt to every third-party LLM — logged</a:t>
            </a:r>
            <a:endParaRPr lang="en-US" sz="13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272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61288" y="3108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user. Which tool. Which data type. When.</a:t>
            </a:r>
            <a:endParaRPr lang="en-US" sz="13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844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61288" y="3566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 high-risk behavior before it's a breach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777240" y="4069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Compliance-Ready</a:t>
            </a:r>
            <a:endParaRPr lang="en-US" sz="16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44568"/>
            <a:ext cx="237744" cy="2377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6128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Export-ready for GDPR, CCPA, HIPAA, SOC 2</a:t>
            </a:r>
            <a:endParaRPr lang="en-US" sz="13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001768"/>
            <a:ext cx="237744" cy="23774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61288" y="49834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exactly how data is handled, every step</a:t>
            </a:r>
            <a:endParaRPr lang="en-US" sz="135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458968"/>
            <a:ext cx="237744" cy="237744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61288" y="5440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dashboard for security teams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194560"/>
          <a:ext cx="528523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627632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User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Tool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Data Type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JetBrains Mono" pitchFamily="34" charset="0"/>
                          <a:ea typeface="JetBrains Mono" pitchFamily="34" charset="-122"/>
                          <a:cs typeface="JetBrains Mono" pitchFamily="34" charset="-120"/>
                        </a:rPr>
                        <a:t>Status</a:t>
                      </a:r>
                      <a:endParaRPr lang="en-US" sz="1000" dirty="0">
                        <a:latin typeface="JetBrains Mono" charset="0"/>
                        <a:ea typeface="JetBrains Mono" charset="0"/>
                        <a:cs typeface="JetBrains Mono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a.chen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ChatGPT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PII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DA3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Protected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m.ruiz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Claude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Financial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DA3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Protected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j.park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Copilot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code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DA3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Protected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s.okoro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Gemini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Health data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D5475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Flagged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d.lang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Cursor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keys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DA3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● Protected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00" marR="5486400" marT="0" marB="0" anchor="ctr">
                    <a:lnL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114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</a:tbl>
          </a:graphicData>
        </a:graphic>
      </p:graphicFrame>
      <p:sp>
        <p:nvSpPr>
          <p:cNvPr id="20" name="Text 11"/>
          <p:cNvSpPr/>
          <p:nvPr/>
        </p:nvSpPr>
        <p:spPr>
          <a:xfrm>
            <a:off x="6126480" y="52120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 can't govern what you </a:t>
            </a:r>
            <a:pPr indent="0" marL="0">
              <a:buNone/>
            </a:pPr>
            <a:r>
              <a:rPr lang="en-US" sz="1800" i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can't see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1800" dirty="0"/>
          </a:p>
        </p:txBody>
      </p:sp>
      <p:pic>
        <p:nvPicPr>
          <p:cNvPr id="21" name="Image 6" descr="assets/pp-logo-l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VERIFIABLE TRUST LAYER · POWERED BY PEAQ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trust layer, anchored on-chain.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Sensitive data is tokenized into Privacy Twins; every AI interaction is written as immutable proof to the peaq blockchain. The PII never leaves the device — only cryptographic proof goes on-chain.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4320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56946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Tokenized, never exposed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54480" y="29535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Sensitive values become Privacy Twins. Only cryptographic hashes and content IDs go on-chain — never the PII.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3749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862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54480" y="371246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activity, audited on-chain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554480" y="40965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session is one immutable peaq transaction — user, machine identity, model, and twin hashes. Tamper-proof.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77240" y="4892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2920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54480" y="485546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DID-secured vault access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1554480" y="52395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peaq DID is each machine's cryptographic identity. An encrypted vault and DID-gated endpoints guard every twin.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903720" y="2606040"/>
            <a:ext cx="4507992" cy="3063240"/>
          </a:xfrm>
          <a:prstGeom prst="roundRect">
            <a:avLst>
              <a:gd name="adj" fmla="val 4179"/>
            </a:avLst>
          </a:prstGeom>
          <a:solidFill>
            <a:srgbClr val="01142F"/>
          </a:solidFill>
          <a:ln w="12700">
            <a:solidFill>
              <a:srgbClr val="12A7B5">
                <a:alpha val="45000"/>
              </a:srgbClr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178040" y="2834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PEAQ · PRIVACY_TWIN_BATCH_AUDIT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0040112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confirmed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7178040" y="3172968"/>
            <a:ext cx="3959352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7178040" y="3282696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tx 0x9f3c…a847        block #4,182,663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717804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3a7f…e1</a:t>
            </a:r>
            <a:pPr indent="0" marL="0">
              <a:buNone/>
            </a:pPr>
            <a:r>
              <a:rPr lang="en-US" sz="11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indent="0" marL="0">
              <a:buNone/>
            </a:pPr>
            <a:r>
              <a:rPr lang="en-US" sz="11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c19e…b4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9948672" y="3703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7178040" y="40142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88b2…9c</a:t>
            </a:r>
            <a:pPr indent="0" marL="0">
              <a:buNone/>
            </a:pPr>
            <a:r>
              <a:rPr lang="en-US" sz="11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indent="0" marL="0">
              <a:buNone/>
            </a:pPr>
            <a:r>
              <a:rPr lang="en-US" sz="11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4471…42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9948672" y="40142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mrn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7178040" y="4325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d04a…7f</a:t>
            </a:r>
            <a:pPr indent="0" marL="0">
              <a:buNone/>
            </a:pPr>
            <a:r>
              <a:rPr lang="en-US" sz="11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indent="0" marL="0">
              <a:buNone/>
            </a:pPr>
            <a:r>
              <a:rPr lang="en-US" sz="11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a8e2…10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9948672" y="4325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address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78040" y="4727448"/>
            <a:ext cx="3959352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7178040" y="48463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machine DID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8458200" y="4846320"/>
            <a:ext cx="2679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did:peaq:0x0841…84ef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7178040" y="51023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IPFS CID</a:t>
            </a:r>
            <a:endParaRPr lang="en-US" sz="950" dirty="0"/>
          </a:p>
        </p:txBody>
      </p:sp>
      <p:sp>
        <p:nvSpPr>
          <p:cNvPr id="33" name="Text 28"/>
          <p:cNvSpPr/>
          <p:nvPr/>
        </p:nvSpPr>
        <p:spPr>
          <a:xfrm>
            <a:off x="8458200" y="5102352"/>
            <a:ext cx="2679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QmP8Ud…1YGT  ✓ pinned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7178040" y="535838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payload</a:t>
            </a:r>
            <a:endParaRPr lang="en-US" sz="950" dirty="0"/>
          </a:p>
        </p:txBody>
      </p:sp>
      <p:sp>
        <p:nvSpPr>
          <p:cNvPr id="35" name="Text 30"/>
          <p:cNvSpPr/>
          <p:nvPr/>
        </p:nvSpPr>
        <p:spPr>
          <a:xfrm>
            <a:off x="8458200" y="5358384"/>
            <a:ext cx="2679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hashes only · 0 bytes PII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Immutable. Append-only. </a:t>
            </a:r>
            <a:pPr indent="0" marL="0">
              <a:buNone/>
            </a:pPr>
            <a:r>
              <a:rPr lang="en-US" sz="1800" i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Proof you can hand to an auditor.</a:t>
            </a:r>
            <a:endParaRPr lang="en-US" sz="1800" dirty="0"/>
          </a:p>
        </p:txBody>
      </p:sp>
      <p:pic>
        <p:nvPicPr>
          <p:cNvPr id="37" name="Image 3" descr="assets/pp-logo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COVERAGE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 everywhere your team uses AI.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7320" y="2505456"/>
            <a:ext cx="1920240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593592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3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228600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2505456"/>
            <a:ext cx="1920240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14032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3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818120" y="228600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58200" y="2505456"/>
            <a:ext cx="1920240" cy="47548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634472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3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777240" y="347472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417320" y="3694176"/>
            <a:ext cx="1920240" cy="47548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593592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3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4297680" y="347472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937760" y="3694176"/>
            <a:ext cx="1920240" cy="47548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114032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3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7818120" y="347472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/>
        </p:spPr>
      </p:sp>
      <p:sp>
        <p:nvSpPr>
          <p:cNvPr id="21" name="Text 14"/>
          <p:cNvSpPr/>
          <p:nvPr/>
        </p:nvSpPr>
        <p:spPr>
          <a:xfrm>
            <a:off x="7818120" y="34747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204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0634472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3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777240" y="466344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417320" y="4882896"/>
            <a:ext cx="1920240" cy="47548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3593592" y="4754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3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97680" y="466344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/>
        </p:spPr>
      </p:sp>
      <p:sp>
        <p:nvSpPr>
          <p:cNvPr id="27" name="Text 19"/>
          <p:cNvSpPr/>
          <p:nvPr/>
        </p:nvSpPr>
        <p:spPr>
          <a:xfrm>
            <a:off x="4297680" y="46634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204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Codex</a:t>
            </a:r>
            <a:endParaRPr lang="en-US" sz="1800" dirty="0"/>
          </a:p>
        </p:txBody>
      </p:sp>
      <p:sp>
        <p:nvSpPr>
          <p:cNvPr id="28" name="Text 20"/>
          <p:cNvSpPr/>
          <p:nvPr/>
        </p:nvSpPr>
        <p:spPr>
          <a:xfrm>
            <a:off x="7114032" y="4754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3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7818120" y="466344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5F0E8"/>
          </a:solidFill>
          <a:ln/>
        </p:spPr>
      </p:sp>
      <p:sp>
        <p:nvSpPr>
          <p:cNvPr id="30" name="Text 22"/>
          <p:cNvSpPr/>
          <p:nvPr/>
        </p:nvSpPr>
        <p:spPr>
          <a:xfrm>
            <a:off x="7818120" y="46634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204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OpenClaw</a:t>
            </a:r>
            <a:endParaRPr lang="en-US" sz="1800" dirty="0"/>
          </a:p>
        </p:txBody>
      </p:sp>
      <p:sp>
        <p:nvSpPr>
          <p:cNvPr id="31" name="Text 23"/>
          <p:cNvSpPr/>
          <p:nvPr/>
        </p:nvSpPr>
        <p:spPr>
          <a:xfrm>
            <a:off x="10634472" y="4754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3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777240" y="5897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BROWSER        DESKTOP        MAC · PC · iOS &amp; ANDROID (SOON)</a:t>
            </a:r>
            <a:endParaRPr lang="en-US" sz="1150" dirty="0"/>
          </a:p>
        </p:txBody>
      </p:sp>
      <p:sp>
        <p:nvSpPr>
          <p:cNvPr id="33" name="Shape 25"/>
          <p:cNvSpPr/>
          <p:nvPr/>
        </p:nvSpPr>
        <p:spPr>
          <a:xfrm>
            <a:off x="8732520" y="5852160"/>
            <a:ext cx="2679192" cy="457200"/>
          </a:xfrm>
          <a:prstGeom prst="roundRect">
            <a:avLst>
              <a:gd name="adj" fmla="val 50000"/>
            </a:avLst>
          </a:prstGeom>
          <a:solidFill>
            <a:srgbClr val="12A7B5"/>
          </a:solidFill>
          <a:ln/>
        </p:spPr>
      </p:sp>
      <p:sp>
        <p:nvSpPr>
          <p:cNvPr id="34" name="Text 26"/>
          <p:cNvSpPr/>
          <p:nvPr/>
        </p:nvSpPr>
        <p:spPr>
          <a:xfrm>
            <a:off x="8732520" y="585216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0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install. Full coverage.</a:t>
            </a:r>
            <a:endParaRPr lang="en-US" sz="1300" dirty="0"/>
          </a:p>
        </p:txBody>
      </p:sp>
      <p:pic>
        <p:nvPicPr>
          <p:cNvPr id="35" name="Image 6" descr="assets/pp-logo-l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PRODUCT TIERS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products. One architecture.</a:t>
            </a:r>
            <a:endParaRPr lang="en-US" sz="4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7215" cy="914400"/>
        </p:xfrm>
        <a:graphic>
          <a:graphicData uri="http://schemas.openxmlformats.org/drawingml/2006/table">
            <a:tbl>
              <a:tblPr/>
              <a:tblGrid>
                <a:gridCol w="5148072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PrivacyPal AI</a:t>
                      </a:r>
                      <a:endParaRPr lang="en-US" sz="15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PrivacyPal Cloud</a:t>
                      </a:r>
                      <a:endParaRPr lang="en-US" sz="15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Browser + Desktop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00" marR="109728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Unlimited AI queries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00" marR="109728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Privacy Twins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00" marR="109728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Audit Log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00" marR="109728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Self-hosted Privacy Twins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00" marR="109728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DB0C9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—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DSPM (database scanning)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00" marR="109728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DB0C9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—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sovereignty controls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00" marR="109728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DB0C9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—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Admin governance console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00" marR="109728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DB0C9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—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24/7 dedicated support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00" marR="109728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DB0C9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—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2A7B5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✓</a:t>
                      </a:r>
                      <a:endParaRPr lang="en-US" sz="16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PrivacyPal AI</a:t>
            </a:r>
            <a:pPr indent="0" marL="0">
              <a:buNone/>
            </a:pPr>
            <a:r>
              <a:rPr lang="en-US" sz="14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teams that need protection now.        </a:t>
            </a:r>
            <a:pPr indent="0" marL="0">
              <a:buNone/>
            </a:pPr>
            <a:r>
              <a:rPr lang="en-US" sz="14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PrivacyPal Cloud</a:t>
            </a:r>
            <a:pPr indent="0" marL="0">
              <a:buNone/>
            </a:pPr>
            <a:r>
              <a:rPr lang="en-US" sz="14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governance at scale.</a:t>
            </a:r>
            <a:endParaRPr lang="en-US" sz="1400" dirty="0"/>
          </a:p>
        </p:txBody>
      </p:sp>
      <p:pic>
        <p:nvPicPr>
          <p:cNvPr id="7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0" y="1371600"/>
            <a:ext cx="5486400" cy="5486400"/>
          </a:xfrm>
          <a:prstGeom prst="ellipse">
            <a:avLst/>
          </a:prstGeom>
          <a:solidFill>
            <a:srgbClr val="028391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FRICTIONLESS DEPLOYMENT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Deploy in minutes. </a:t>
            </a:r>
            <a:pPr algn="ctr" indent="0" marL="0">
              <a:buNone/>
            </a:pPr>
            <a:r>
              <a:rPr lang="en-US" sz="46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months</a:t>
            </a:r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2575408" y="2926080"/>
            <a:ext cx="1554480" cy="1554480"/>
          </a:xfrm>
          <a:prstGeom prst="ellipse">
            <a:avLst/>
          </a:prstGeom>
          <a:solidFill>
            <a:srgbClr val="028391"/>
          </a:solidFill>
          <a:ln/>
          <a:effectLst>
            <a:outerShdw sx="100000" sy="100000" kx="0" ky="0" algn="bl" rotWithShape="0" blurRad="203200" dist="63500" dir="54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75408" y="29260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2301088" y="4663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Install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129888" y="3429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318608" y="2926080"/>
            <a:ext cx="1554480" cy="1554480"/>
          </a:xfrm>
          <a:prstGeom prst="ellipse">
            <a:avLst/>
          </a:prstGeom>
          <a:solidFill>
            <a:srgbClr val="028391"/>
          </a:solidFill>
          <a:ln/>
          <a:effectLst>
            <a:outerShdw sx="100000" sy="100000" kx="0" ky="0" algn="bl" rotWithShape="0" blurRad="203200" dist="63500" dir="54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18608" y="29260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5044288" y="4663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Activate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873088" y="3429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061808" y="2926080"/>
            <a:ext cx="1554480" cy="1554480"/>
          </a:xfrm>
          <a:prstGeom prst="ellipse">
            <a:avLst/>
          </a:prstGeom>
          <a:solidFill>
            <a:srgbClr val="028391"/>
          </a:solidFill>
          <a:ln/>
          <a:effectLst>
            <a:outerShdw sx="100000" sy="100000" kx="0" ky="0" algn="bl" rotWithShape="0" blurRad="203200" dist="63500" dir="54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61808" y="29260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7787488" y="4663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Protected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0" y="5715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complex integration      ·      No internal LLM to build      ·      No rearchitecting      ·      No training</a:t>
            </a:r>
            <a:endParaRPr lang="en-US" sz="1200" dirty="0"/>
          </a:p>
        </p:txBody>
      </p:sp>
      <p:pic>
        <p:nvPicPr>
          <p:cNvPr id="18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/bg-tower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42F">
              <a:alpha val="8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7558851" cy="6858000"/>
          </a:xfrm>
          <a:prstGeom prst="rect">
            <a:avLst/>
          </a:prstGeom>
          <a:solidFill>
            <a:srgbClr val="01142F">
              <a:alpha val="9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6" name="Text 3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WHO USES PRIVACYPAL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" y="10515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Real teams. Real traction.</a:t>
            </a:r>
            <a:endParaRPr lang="en-US" sz="4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8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Financial Services &amp; Accounting</a:t>
            </a:r>
            <a:endParaRPr lang="en-US" sz="17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79192"/>
            <a:ext cx="292608" cy="29260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34440" y="26609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Healthcare &amp; Life Sciences</a:t>
            </a:r>
            <a:endParaRPr lang="en-US" sz="17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91256"/>
            <a:ext cx="292608" cy="2926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1729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</a:t>
            </a:r>
            <a:endParaRPr lang="en-US" sz="17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23444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Technology</a:t>
            </a:r>
            <a:endParaRPr lang="en-US" sz="17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215384"/>
            <a:ext cx="292608" cy="29260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234440" y="41970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&amp; Product Teams</a:t>
            </a:r>
            <a:endParaRPr lang="en-US" sz="1700" dirty="0"/>
          </a:p>
        </p:txBody>
      </p:sp>
      <p:sp>
        <p:nvSpPr>
          <p:cNvPr id="18" name="Text 10"/>
          <p:cNvSpPr/>
          <p:nvPr/>
        </p:nvSpPr>
        <p:spPr>
          <a:xfrm>
            <a:off x="777240" y="4892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10M</a:t>
            </a:r>
            <a:pPr indent="0" marL="0">
              <a:buNone/>
            </a:pPr>
            <a:r>
              <a:rPr lang="en-US" sz="56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 </a:t>
            </a:r>
            <a:pPr indent="0" marL="0">
              <a:buNone/>
            </a:pPr>
            <a:r>
              <a:rPr lang="en-US" sz="1300" b="1" dirty="0">
                <a:solidFill>
                  <a:srgbClr val="9DB0C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records protected</a:t>
            </a:r>
            <a:endParaRPr lang="en-US" sz="5600" dirty="0"/>
          </a:p>
        </p:txBody>
      </p:sp>
      <p:sp>
        <p:nvSpPr>
          <p:cNvPr id="19" name="Text 11"/>
          <p:cNvSpPr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CASES</a:t>
            </a:r>
            <a:endParaRPr lang="en-US" sz="11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0" y="2496312"/>
            <a:ext cx="274320" cy="27432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6995160" y="24688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 teams protecting privileged info in AI drafting</a:t>
            </a:r>
            <a:endParaRPr lang="en-US" sz="14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063240"/>
            <a:ext cx="274320" cy="27432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995160" y="303580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teams masking client data in AI analysis</a:t>
            </a:r>
            <a:endParaRPr lang="en-US" sz="14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3680" y="3630168"/>
            <a:ext cx="274320" cy="27432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6995160" y="3602736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teams securing code &amp; API keys in AI assistants</a:t>
            </a:r>
            <a:endParaRPr lang="en-US" sz="140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4197096"/>
            <a:ext cx="274320" cy="274320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6995160" y="41696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HR teams protecting employee PII in AI comms</a:t>
            </a:r>
            <a:endParaRPr lang="en-US" sz="1400" dirty="0"/>
          </a:p>
        </p:txBody>
      </p:sp>
      <p:sp>
        <p:nvSpPr>
          <p:cNvPr id="28" name="Text 16"/>
          <p:cNvSpPr/>
          <p:nvPr/>
        </p:nvSpPr>
        <p:spPr>
          <a:xfrm>
            <a:off x="6583680" y="48463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Inbound from accounting firms, MSPs, and resellers — plus marketplace inclusion requested by partners.</a:t>
            </a:r>
            <a:endParaRPr lang="en-US" sz="1300" dirty="0"/>
          </a:p>
        </p:txBody>
      </p:sp>
      <p:pic>
        <p:nvPicPr>
          <p:cNvPr id="29" name="Image 10" descr="assets/pp-logo-ligh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3657600"/>
            <a:ext cx="5486400" cy="5486400"/>
          </a:xfrm>
          <a:prstGeom prst="ellipse">
            <a:avLst/>
          </a:prstGeom>
          <a:solidFill>
            <a:srgbClr val="028391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PEOPLE ARE SAYING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77240" y="12344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everything I've been able to find, PrivacyPal looks like one of the strongest solutions on the market.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54480" y="2286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Partner inbound,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715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1554480" y="2852928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synthetic replacement angle is a clever way to meet security folks where they are without wrecking the day-to-day UX.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554480" y="376732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Product Hunt community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4197096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</a:t>
            </a:r>
            <a:endParaRPr lang="en-US" sz="6400" dirty="0"/>
          </a:p>
        </p:txBody>
      </p:sp>
      <p:sp>
        <p:nvSpPr>
          <p:cNvPr id="12" name="Text 10"/>
          <p:cNvSpPr/>
          <p:nvPr/>
        </p:nvSpPr>
        <p:spPr>
          <a:xfrm>
            <a:off x="1554480" y="4334256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Shadow AI is a huge problem already. I'm in third-party risk management and I'm already seeing a lot of vendors not dealing with this.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554480" y="524865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Industry practitioner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UNSOLICITED.  UNPROMPTED.  REAL.</a:t>
            </a:r>
            <a:endParaRPr lang="en-US" sz="1300" dirty="0"/>
          </a:p>
        </p:txBody>
      </p:sp>
      <p:pic>
        <p:nvPicPr>
          <p:cNvPr id="15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COMPARISON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PrivacyPal vs. the alternatives.</a:t>
            </a:r>
            <a:endParaRPr lang="en-US" sz="4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7215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22860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PrivacyPal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Traditional DLP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Cloud Proxies</a:t>
                      </a:r>
                      <a:endParaRPr lang="en-US" sz="14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39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leaves your machine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2A7B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output accuracy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2A7B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Broken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Real-time protection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2A7B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Batch/async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API-based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Desktop AI coverage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2A7B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AI tools covered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2A7B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install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Per-tool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Limited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Self-hosted option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2A7B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N/A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Some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Zero learning curve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2A7B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Training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Config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C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Vendor sees your data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2A7B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38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9DB0C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00" marR="9144000" marT="0" marB="0" anchor="ctr">
                    <a:lnL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1204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142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9436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difference is </a:t>
            </a:r>
            <a:pPr indent="0" marL="0">
              <a:buNone/>
            </a:pPr>
            <a:r>
              <a:rPr lang="en-US" sz="2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architecture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 Not policy.</a:t>
            </a:r>
            <a:endParaRPr lang="en-US" sz="2400" dirty="0"/>
          </a:p>
        </p:txBody>
      </p:sp>
      <p:pic>
        <p:nvPicPr>
          <p:cNvPr id="7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PRICING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Simple pricing. Immediate protection.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2615184" cy="3520440"/>
          </a:xfrm>
          <a:prstGeom prst="roundRect">
            <a:avLst>
              <a:gd name="adj" fmla="val 4895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237744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PERSONAL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33272" y="2651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Home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33272" y="31546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$9</a:t>
            </a:r>
            <a:pPr indent="0" marL="0">
              <a:buNone/>
            </a:pPr>
            <a:r>
              <a:rPr lang="en-US" sz="1200" dirty="0">
                <a:solidFill>
                  <a:srgbClr val="9DB0C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/mo per device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033272" y="384048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Up to 5 devices (family)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33272" y="425196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All major AI apps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33272" y="466344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On-device detection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33272" y="507492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Personal data library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11880" y="2148840"/>
            <a:ext cx="2615184" cy="3520440"/>
          </a:xfrm>
          <a:prstGeom prst="roundRect">
            <a:avLst>
              <a:gd name="adj" fmla="val 4895"/>
            </a:avLst>
          </a:prstGeom>
          <a:solidFill>
            <a:srgbClr val="0A2C5E"/>
          </a:solidFill>
          <a:ln w="25400">
            <a:solidFill>
              <a:srgbClr val="12A7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67912" y="237744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MOST POPULAR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67912" y="2651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867912" y="31546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$15</a:t>
            </a:r>
            <a:pPr indent="0" marL="0">
              <a:buNone/>
            </a:pPr>
            <a:r>
              <a:rPr lang="en-US" sz="1200" dirty="0">
                <a:solidFill>
                  <a:srgbClr val="9DB0C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/mo per seat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867912" y="384048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CRM / Slack / Notion / SQL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67912" y="425196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Role-based team policies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867912" y="466344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Audit log + SSO &amp; SCIM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867912" y="507492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Priority support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46520" y="2148840"/>
            <a:ext cx="2615184" cy="3520440"/>
          </a:xfrm>
          <a:prstGeom prst="roundRect">
            <a:avLst>
              <a:gd name="adj" fmla="val 4895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02552" y="237744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02552" y="2651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Max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702552" y="31546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$50</a:t>
            </a:r>
            <a:pPr indent="0" marL="0">
              <a:buNone/>
            </a:pPr>
            <a:r>
              <a:rPr lang="en-US" sz="1200" dirty="0">
                <a:solidFill>
                  <a:srgbClr val="9DB0C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/mo per seat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702552" y="384048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Everything in Pro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702552" y="425196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On-device Privacy Agents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702552" y="466344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Org-wide AI controls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702552" y="507492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Private MCP &amp; on-device DSPM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281160" y="2148840"/>
            <a:ext cx="2615184" cy="3520440"/>
          </a:xfrm>
          <a:prstGeom prst="roundRect">
            <a:avLst>
              <a:gd name="adj" fmla="val 4895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37192" y="2377440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SOVEREIGN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537192" y="265176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Cloud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9537192" y="31546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Custom</a:t>
            </a:r>
            <a:pPr indent="0" marL="0">
              <a:buNone/>
            </a:pPr>
            <a:r>
              <a:rPr lang="en-US" sz="1200" dirty="0">
                <a:solidFill>
                  <a:srgbClr val="9DB0C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annual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9537192" y="384048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Self-hosted (AWS/Azure/GCP)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537192" y="425196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Network DSPM for databases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537192" y="466344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AI-compatible gateway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9537192" y="5074920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 Dedicated SE · 24/7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plan includes </a:t>
            </a:r>
            <a:pPr indent="0" marL="0">
              <a:buNone/>
            </a:pPr>
            <a:r>
              <a:rPr lang="en-US" sz="2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Privacy Twins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and real-time interception.</a:t>
            </a:r>
            <a:endParaRPr lang="en-US" sz="2000" dirty="0"/>
          </a:p>
        </p:txBody>
      </p:sp>
      <p:pic>
        <p:nvPicPr>
          <p:cNvPr id="38" name="Image 0" descr="assets/pp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9" name="Text 36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1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/bg-skylin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42F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1371600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●   SAFE AI. ANYWHERE.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1828800"/>
            <a:ext cx="121916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Move.</a:t>
            </a:r>
            <a:endParaRPr lang="en-US" sz="10000" dirty="0"/>
          </a:p>
        </p:txBody>
      </p:sp>
      <p:sp>
        <p:nvSpPr>
          <p:cNvPr id="6" name="Text 3"/>
          <p:cNvSpPr/>
          <p:nvPr/>
        </p:nvSpPr>
        <p:spPr>
          <a:xfrm>
            <a:off x="0" y="36576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a demo  </a:t>
            </a:r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see Privacy Twins on your actual AI tools.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0" y="41148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a pilot  </a:t>
            </a:r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deploy to a team in minutes; measure the risk reduction.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815688" y="4892040"/>
            <a:ext cx="2560320" cy="603504"/>
          </a:xfrm>
          <a:prstGeom prst="roundRect">
            <a:avLst>
              <a:gd name="adj" fmla="val 50000"/>
            </a:avLst>
          </a:prstGeom>
          <a:solidFill>
            <a:srgbClr val="12A7B5"/>
          </a:solidFill>
          <a:ln/>
        </p:spPr>
      </p:sp>
      <p:sp>
        <p:nvSpPr>
          <p:cNvPr id="9" name="Text 6"/>
          <p:cNvSpPr/>
          <p:nvPr/>
        </p:nvSpPr>
        <p:spPr>
          <a:xfrm>
            <a:off x="4815688" y="489204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120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a demo  →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0" y="594360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privacypal.ai/cloud      ·      Contact      ·      Calendar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PrivacyPal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PrivacyPal — Safe AI. Anywhere.</dc:title>
  <dc:subject>PptxGenJS Presentation</dc:subject>
  <dc:creator>PrivacyPal</dc:creator>
  <cp:lastModifiedBy>PrivacyPal</cp:lastModifiedBy>
  <cp:revision>1</cp:revision>
  <dcterms:created xsi:type="dcterms:W3CDTF">2026-06-24T19:34:00Z</dcterms:created>
  <dcterms:modified xsi:type="dcterms:W3CDTF">2026-06-24T19:34:00Z</dcterms:modified>
</cp:coreProperties>
</file>