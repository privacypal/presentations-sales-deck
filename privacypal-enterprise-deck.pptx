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46"/>
    <p:restoredTop sz="94610"/>
  </p:normalViewPr>
  <p:slideViewPr>
    <p:cSldViewPr snapToGrid="0" snapToObjects="1">
      <p:cViewPr varScale="1">
        <p:scale>
          <a:sx n="212" d="100"/>
          <a:sy n="212" d="100"/>
        </p:scale>
        <p:origin x="1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74794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1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80960" y="-1645920"/>
            <a:ext cx="6583680" cy="6583680"/>
          </a:xfrm>
          <a:prstGeom prst="ellipse">
            <a:avLst/>
          </a:prstGeom>
          <a:solidFill>
            <a:srgbClr val="12A7B5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assets/pp-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85800"/>
            <a:ext cx="1920240" cy="53190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77240" y="148590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33272" y="141732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 FOR ENTERPRISE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777240" y="1874520"/>
            <a:ext cx="6492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 every AI.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777240" y="3968014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and enablement layer for AI — so your enterprise can adopt AI everywhere it creates value, with trust and compliance built in. Not a brake on innovation. The layer that unlocks it.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77240" y="5486400"/>
            <a:ext cx="2194560" cy="548640"/>
          </a:xfrm>
          <a:prstGeom prst="roundRect">
            <a:avLst>
              <a:gd name="adj" fmla="val 50000"/>
            </a:avLst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777240" y="54864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120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a demo  →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3154680" y="5486400"/>
            <a:ext cx="2651760" cy="548640"/>
          </a:xfrm>
          <a:prstGeom prst="roundRect">
            <a:avLst>
              <a:gd name="adj" fmla="val 50000"/>
            </a:avLst>
          </a:prstGeom>
          <a:ln w="12700">
            <a:solidFill>
              <a:srgbClr val="FFFFFF">
                <a:alpha val="3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1546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the product intro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/bg-server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42F">
              <a:alpha val="8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7558851" cy="6858000"/>
          </a:xfrm>
          <a:prstGeom prst="rect">
            <a:avLst/>
          </a:prstGeom>
          <a:solidFill>
            <a:srgbClr val="01142F">
              <a:alpha val="9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GOVERNANCE GAP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77240" y="10972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people are already all-in on AI.</a:t>
            </a:r>
            <a:endParaRPr lang="en-US" sz="4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Your governance </a:t>
            </a:r>
            <a:r>
              <a:rPr lang="en-US" sz="4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isn't</a:t>
            </a:r>
            <a:r>
              <a:rPr lang="en-US" sz="4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.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77240" y="28803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417320" y="284378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is already ~60% of the workday.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417320" y="32095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run client data, code and strategy through ChatGPT, Claude and Copilot every day — with or without you.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77240" y="37216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417320" y="3685032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Block it, and innovation stalls.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1417320" y="405079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lever most security teams have is “no.” AI initiatives die in the review queue while competitors ship.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77240" y="456285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417320" y="45262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Allow it ungoverned, and trust is on the line.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417320" y="4892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Unprotected prompts leak PII, PHI and IP to third-party models — risking trust your firm spent a lifetime earning.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7724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Stop blocking AI. </a:t>
            </a:r>
            <a:r>
              <a:rPr lang="en-US" sz="26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 governing it.</a:t>
            </a:r>
            <a:endParaRPr lang="en-US" sz="2600" dirty="0"/>
          </a:p>
        </p:txBody>
      </p:sp>
      <p:pic>
        <p:nvPicPr>
          <p:cNvPr id="18" name="Image 1" descr="assets/pp-logo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GOVERNANCE &amp; ENABLEMENT LAYER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trust layer beneath your AI operating system.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762000" y="3004529"/>
            <a:ext cx="523253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layer. Every AI, every endpoint, every data store — </a:t>
            </a:r>
            <a:r>
              <a:rPr lang="en-US" sz="2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governed and enabled.</a:t>
            </a:r>
            <a:endParaRPr lang="en-US" sz="2000" dirty="0"/>
          </a:p>
        </p:txBody>
      </p:sp>
      <p:pic>
        <p:nvPicPr>
          <p:cNvPr id="16" name="Image 0" descr="assets/pp-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11</a:t>
            </a:r>
            <a:endParaRPr lang="en-US" sz="1000" dirty="0"/>
          </a:p>
        </p:txBody>
      </p:sp>
      <p:sp>
        <p:nvSpPr>
          <p:cNvPr id="18" name="Shape 9">
            <a:extLst>
              <a:ext uri="{FF2B5EF4-FFF2-40B4-BE49-F238E27FC236}">
                <a16:creationId xmlns:a16="http://schemas.microsoft.com/office/drawing/2014/main" id="{3F55C2CE-D8EF-5BE6-FDE4-CE9504DC3B0B}"/>
              </a:ext>
            </a:extLst>
          </p:cNvPr>
          <p:cNvSpPr/>
          <p:nvPr/>
        </p:nvSpPr>
        <p:spPr>
          <a:xfrm>
            <a:off x="6486224" y="1920240"/>
            <a:ext cx="4023360" cy="4297680"/>
          </a:xfrm>
          <a:prstGeom prst="roundRect">
            <a:avLst>
              <a:gd name="adj" fmla="val 3182"/>
            </a:avLst>
          </a:prstGeom>
          <a:solidFill>
            <a:srgbClr val="01142F"/>
          </a:solidFill>
          <a:ln w="12700">
            <a:solidFill>
              <a:srgbClr val="12A7B5">
                <a:alpha val="40000"/>
              </a:srgbClr>
            </a:solidFill>
            <a:prstDash val="solid"/>
          </a:ln>
          <a:effectLst>
            <a:outerShdw blurRad="228600" dist="762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0">
            <a:extLst>
              <a:ext uri="{FF2B5EF4-FFF2-40B4-BE49-F238E27FC236}">
                <a16:creationId xmlns:a16="http://schemas.microsoft.com/office/drawing/2014/main" id="{7C883B50-681D-840C-195B-FAD68C0F057B}"/>
              </a:ext>
            </a:extLst>
          </p:cNvPr>
          <p:cNvSpPr/>
          <p:nvPr/>
        </p:nvSpPr>
        <p:spPr>
          <a:xfrm>
            <a:off x="6806264" y="2240280"/>
            <a:ext cx="33832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Install on any desktop or server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curl -sSL https://get.privacypal.ai | sh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Every AI agent on this machine is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now protected by PrivacyPal Cloud.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2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 status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Gateway running on 127.0.0.1:7878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Watching 4 local AI processes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Routing via privacypal.yourco.internal</a:t>
            </a:r>
            <a:endParaRPr lang="en-US" sz="120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12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0 prompts left this network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MECHANISM · PRIVACY TWINS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Language-based privacy for a language-based threat.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1872112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Others stop at redaction — which breaks the model's output and kills adoption. PrivacyPal substitutes a </a:t>
            </a:r>
            <a:r>
              <a:rPr lang="en-US" sz="1450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context-preserving Privacy Twin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then restores the real values on the way back. 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2697480"/>
            <a:ext cx="3200400" cy="1828800"/>
          </a:xfrm>
          <a:prstGeom prst="roundRect">
            <a:avLst>
              <a:gd name="adj" fmla="val 7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33272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D5475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① IN YOUR NETWORK — REAL DATA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3264408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"Summarize </a:t>
            </a: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Margaret Chen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 chart — </a:t>
            </a: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MRN 4471-8829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admitted </a:t>
            </a: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March 14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44568" y="2697480"/>
            <a:ext cx="3200400" cy="1828800"/>
          </a:xfrm>
          <a:prstGeom prst="roundRect">
            <a:avLst>
              <a:gd name="adj" fmla="val 7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0060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② WHAT THE MODEL SEES — TWINS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00600" y="3264408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"Summarize </a:t>
            </a: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Nancy Grace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 chart — </a:t>
            </a: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MRN 8826-3142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, admitted </a:t>
            </a:r>
            <a:r>
              <a:rPr lang="en-US" sz="125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 22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."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311896" y="2697480"/>
            <a:ext cx="3200400" cy="1828800"/>
          </a:xfrm>
          <a:prstGeom prst="roundRect">
            <a:avLst>
              <a:gd name="adj" fmla="val 700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567928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5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③ WHAT YOU GET BACK — RESTORED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567928" y="3264408"/>
            <a:ext cx="268833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Accurate clinical summary for </a:t>
            </a:r>
            <a:r>
              <a:rPr lang="en-US" sz="1250" b="1" dirty="0">
                <a:solidFill>
                  <a:srgbClr val="D5475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Margaret Chen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full context intact, 100% faithful to the model's answer.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32504" y="33375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758184" y="38679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swap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799832" y="33375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525512" y="386791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restore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954987" y="5446214"/>
            <a:ext cx="198607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40ms  </a:t>
            </a: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avg interception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89704" y="5453433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  </a:t>
            </a: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PII · PHI · PCI · IP classes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699248" y="5446214"/>
            <a:ext cx="2660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100%  </a:t>
            </a: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on-device · zero-knowledge</a:t>
            </a:r>
            <a:endParaRPr lang="en-US" sz="1200" dirty="0"/>
          </a:p>
        </p:txBody>
      </p:sp>
      <p:pic>
        <p:nvPicPr>
          <p:cNvPr id="27" name="Image 0" descr="assets/pp-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11</a:t>
            </a:r>
            <a:endParaRPr lang="en-US" sz="1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3EEDFE-B364-EF02-CDA7-35FDEDECE701}"/>
              </a:ext>
            </a:extLst>
          </p:cNvPr>
          <p:cNvSpPr txBox="1"/>
          <p:nvPr/>
        </p:nvSpPr>
        <p:spPr>
          <a:xfrm>
            <a:off x="3242571" y="4855982"/>
            <a:ext cx="60970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work gets done. The data never leaves.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DEPLOYMENT CHECKLIST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Sovereign by design. Drop in anywhere your workloads live.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332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21488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332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Zero code changes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332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Intercepts AI traffic at the network edge. Existing agents, copilots and SDKs keep their config — every request twin-swapped.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908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1488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08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AWS · Azure · GCP · bare metal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6908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Terraform, Helm, or single-container deploy. Production-ready in an afternoon, inside your tenancy — no third-party DPAs.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3484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214884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484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Air-gapped option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484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detection with on-prem models. No outbound traffic. Built for regulated enterprises — Healthcare, FSI, Defense.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10332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288" y="447141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332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Provider-agnostic gateway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10332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OpenAI / Anthropic / Google compatible. Route to GPT, Claude, Gemini, Mistral, Llama or your own fine-tune.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6908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447141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908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Streaming-safe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46908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Detects and swaps mid-stream without breaking token-by-token responses. Users never see a hitch.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3484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6488" y="447141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484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Horizontal scale &amp; 24/7 SLA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83484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Stateless workers scale to 100k req/s. P99 under half a second. Dedicated SE. 24/7 support included.</a:t>
            </a:r>
            <a:endParaRPr lang="en-US" sz="1100" dirty="0"/>
          </a:p>
        </p:txBody>
      </p:sp>
      <p:pic>
        <p:nvPicPr>
          <p:cNvPr id="35" name="Image 6" descr="assets/pp-logo-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11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INCLUDED WITH CLOUD · NETWORK DSPM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Govern the AI data layer like the database layer.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0332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1288" y="214884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332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Agentless discovery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332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 store and it's in the scan queue. SQL, Mongo, Supabase, Drive, object storage — read in place, no agents.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908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214884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908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Context-aware classification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6908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intelligence behind Privacy Twins reads data like a human. PII, PHI, financials, schemas — no regex to maintain.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348472" y="2020824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6488" y="214884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48472" y="2651760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Risk that's actually risk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348472" y="3227832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Sensitivity tied to access, exposure and business purpose. An SSN in a public bucket is critical; a dev fixture is not.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10332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1288" y="4471416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332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One-click remediation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10332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 Twin protect columns, trigger a workflow, or route findings to the owner with full context.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46908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8888" y="4471416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46908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RAG, vector &amp; agent memory</a:t>
            </a:r>
            <a:endParaRPr lang="en-US" sz="1600" dirty="0"/>
          </a:p>
        </p:txBody>
      </p:sp>
      <p:sp>
        <p:nvSpPr>
          <p:cNvPr id="29" name="Text 22"/>
          <p:cNvSpPr/>
          <p:nvPr/>
        </p:nvSpPr>
        <p:spPr>
          <a:xfrm>
            <a:off x="46908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 the AI data layer the way you scan the database layer — where models read from, and where data quietly leaks in.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8348472" y="4343400"/>
            <a:ext cx="530352" cy="530352"/>
          </a:xfrm>
          <a:prstGeom prst="roundRect">
            <a:avLst>
              <a:gd name="adj" fmla="val 17241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6488" y="4471416"/>
            <a:ext cx="274320" cy="27432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348472" y="4974336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Sovereign by design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8348472" y="5550408"/>
            <a:ext cx="2871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Scans run inside your network against the same gateway. Findings, classifications and remediation never leave your tenancy.</a:t>
            </a:r>
            <a:endParaRPr lang="en-US" sz="1100" dirty="0"/>
          </a:p>
        </p:txBody>
      </p:sp>
      <p:pic>
        <p:nvPicPr>
          <p:cNvPr id="35" name="Image 6" descr="assets/pp-logo-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11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VERIFIABLE TRUST LAYER · POWERED BY PEAQ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twin and action, anchored on-chain.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4028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665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Tokenized, never exposed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554480" y="245059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Sensitive values become Privacy Twins. Only cryptographic hashes and content IDs go on-chain — never the PII.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329184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2900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54480" y="325526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activity, audited on-chain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1554480" y="363931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session is one immutable peaq transaction — user, machine identity, model and twin hashes. Tamper-proof.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77240" y="448056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461772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0" y="444398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DID-secured vault access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1554480" y="4828032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peaq DID is each machine's cryptographic identity. An encrypted vault and DID-gated endpoints guard every twin.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903720" y="2103120"/>
            <a:ext cx="4507992" cy="3200400"/>
          </a:xfrm>
          <a:prstGeom prst="roundRect">
            <a:avLst>
              <a:gd name="adj" fmla="val 4000"/>
            </a:avLst>
          </a:prstGeom>
          <a:solidFill>
            <a:srgbClr val="01142F"/>
          </a:solidFill>
          <a:ln w="12700">
            <a:solidFill>
              <a:srgbClr val="12A7B5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717804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PEAQ · PRIVACY_TWIN_BATCH_AUDIT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10040112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4DA3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confirmed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7178040" y="2688336"/>
            <a:ext cx="3959352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6"/>
          <p:cNvSpPr/>
          <p:nvPr/>
        </p:nvSpPr>
        <p:spPr>
          <a:xfrm>
            <a:off x="7178040" y="2816352"/>
            <a:ext cx="3959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tx 0x9f3c…a847        block #4,182,663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7178040" y="3273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3a7f…e1</a:t>
            </a:r>
            <a:r>
              <a:rPr lang="en-US" sz="11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r>
              <a:rPr lang="en-US" sz="11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c19e…b4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9948672" y="32735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7178040" y="3602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88b2…9c</a:t>
            </a:r>
            <a:r>
              <a:rPr lang="en-US" sz="11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r>
              <a:rPr lang="en-US" sz="11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4471…42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9948672" y="36027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mrn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7178040" y="3931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AA96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d04a…7f</a:t>
            </a:r>
            <a:r>
              <a:rPr lang="en-US" sz="11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r>
              <a:rPr lang="en-US" sz="115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a8e2…10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9948672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address</a:t>
            </a:r>
            <a:endParaRPr lang="en-US" sz="900" dirty="0"/>
          </a:p>
        </p:txBody>
      </p:sp>
      <p:sp>
        <p:nvSpPr>
          <p:cNvPr id="28" name="Shape 23"/>
          <p:cNvSpPr/>
          <p:nvPr/>
        </p:nvSpPr>
        <p:spPr>
          <a:xfrm>
            <a:off x="7178040" y="4370832"/>
            <a:ext cx="3959352" cy="0"/>
          </a:xfrm>
          <a:prstGeom prst="line">
            <a:avLst/>
          </a:prstGeom>
          <a:noFill/>
          <a:ln w="12700">
            <a:solidFill>
              <a:srgbClr val="FFFFFF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7178040" y="449884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machine DID</a:t>
            </a:r>
            <a:endParaRPr lang="en-US" sz="950" dirty="0"/>
          </a:p>
        </p:txBody>
      </p:sp>
      <p:sp>
        <p:nvSpPr>
          <p:cNvPr id="30" name="Text 25"/>
          <p:cNvSpPr/>
          <p:nvPr/>
        </p:nvSpPr>
        <p:spPr>
          <a:xfrm>
            <a:off x="8458200" y="4498848"/>
            <a:ext cx="2679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did:peaq:0x0841…84ef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7178040" y="47548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IPFS CID</a:t>
            </a:r>
            <a:endParaRPr lang="en-US" sz="950" dirty="0"/>
          </a:p>
        </p:txBody>
      </p:sp>
      <p:sp>
        <p:nvSpPr>
          <p:cNvPr id="32" name="Text 27"/>
          <p:cNvSpPr/>
          <p:nvPr/>
        </p:nvSpPr>
        <p:spPr>
          <a:xfrm>
            <a:off x="8458200" y="4754880"/>
            <a:ext cx="2679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QmP8Ud…1YGT  ✓ pinned</a:t>
            </a:r>
            <a:endParaRPr lang="en-US" sz="950" dirty="0"/>
          </a:p>
        </p:txBody>
      </p:sp>
      <p:sp>
        <p:nvSpPr>
          <p:cNvPr id="33" name="Text 28"/>
          <p:cNvSpPr/>
          <p:nvPr/>
        </p:nvSpPr>
        <p:spPr>
          <a:xfrm>
            <a:off x="7178040" y="501091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payload</a:t>
            </a:r>
            <a:endParaRPr lang="en-US" sz="950" dirty="0"/>
          </a:p>
        </p:txBody>
      </p:sp>
      <p:sp>
        <p:nvSpPr>
          <p:cNvPr id="34" name="Text 29"/>
          <p:cNvSpPr/>
          <p:nvPr/>
        </p:nvSpPr>
        <p:spPr>
          <a:xfrm>
            <a:off x="8458200" y="5010912"/>
            <a:ext cx="2679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hashes only · 0 bytes PII</a:t>
            </a:r>
            <a:endParaRPr lang="en-US" sz="950" dirty="0"/>
          </a:p>
        </p:txBody>
      </p:sp>
      <p:pic>
        <p:nvPicPr>
          <p:cNvPr id="35" name="Image 3" descr="assets/pp-logo-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11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ARCHITECTURE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Stateless. Sovereign. Throughput-grade.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3200400" cy="1463040"/>
          </a:xfrm>
          <a:prstGeom prst="roundRect">
            <a:avLst>
              <a:gd name="adj" fmla="val 875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0584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YOUR ENVIRONMENT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 agents &amp; copilots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Chat, IDE, RAG apps, internal agents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80560" y="2286000"/>
            <a:ext cx="3200400" cy="1463040"/>
          </a:xfrm>
          <a:prstGeom prst="roundRect">
            <a:avLst>
              <a:gd name="adj" fmla="val 8750"/>
            </a:avLst>
          </a:prstGeom>
          <a:solidFill>
            <a:srgbClr val="028391"/>
          </a:solidFill>
          <a:ln/>
          <a:effectLst>
            <a:outerShdw blurRad="203200" dist="635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0916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 CLOUD · IN YOUR VPC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70916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Sovereign gateway + DSPM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70916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EAF2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Twin-swap in motion · agentless scan at rest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83880" y="2286000"/>
            <a:ext cx="3200400" cy="1463040"/>
          </a:xfrm>
          <a:prstGeom prst="roundRect">
            <a:avLst>
              <a:gd name="adj" fmla="val 8750"/>
            </a:avLst>
          </a:prstGeom>
          <a:solidFill>
            <a:srgbClr val="0A2C5E"/>
          </a:solidFill>
          <a:ln w="12700">
            <a:solidFill>
              <a:srgbClr val="FFFFFF">
                <a:alpha val="1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8412480" y="2487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OUTBOUND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41248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LLM providers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412480" y="3246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100" dirty="0">
                <a:solidFill>
                  <a:srgbClr val="9DB0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 · Claude · Gemini · Llama — twins only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050792" y="2743200"/>
            <a:ext cx="35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754112" y="2743200"/>
            <a:ext cx="35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→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77240" y="4480560"/>
            <a:ext cx="54864" cy="1005840"/>
          </a:xfrm>
          <a:prstGeom prst="rect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78408" y="443484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100k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978408" y="514807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requests / sec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527984" y="4480560"/>
            <a:ext cx="54864" cy="1005840"/>
          </a:xfrm>
          <a:prstGeom prst="rect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729152" y="443484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&lt;0.5s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3729152" y="514807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P99 latency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278728" y="4480560"/>
            <a:ext cx="54864" cy="1005840"/>
          </a:xfrm>
          <a:prstGeom prst="rect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479896" y="443484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Zero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6479896" y="514807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knowledge · your keys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29471" y="4480560"/>
            <a:ext cx="54864" cy="1005840"/>
          </a:xfrm>
          <a:prstGeom prst="rect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230639" y="4434840"/>
            <a:ext cx="22021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Air-gap</a:t>
            </a:r>
            <a:endParaRPr lang="en-US" sz="3800" dirty="0"/>
          </a:p>
        </p:txBody>
      </p:sp>
      <p:sp>
        <p:nvSpPr>
          <p:cNvPr id="30" name="Text 28"/>
          <p:cNvSpPr/>
          <p:nvPr/>
        </p:nvSpPr>
        <p:spPr>
          <a:xfrm>
            <a:off x="9230639" y="514807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ready · no egress</a:t>
            </a:r>
            <a:endParaRPr lang="en-US" sz="1050" dirty="0"/>
          </a:p>
        </p:txBody>
      </p:sp>
      <p:pic>
        <p:nvPicPr>
          <p:cNvPr id="31" name="Image 0" descr="assets/pp-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32" name="Text 29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11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TOTAL GOVERNANCE &amp; VISIBILITY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777240" y="10058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Total governance. Full visibility. Provable trust.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7724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visibility</a:t>
            </a:r>
            <a:endParaRPr lang="en-US" sz="1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78608"/>
            <a:ext cx="237744" cy="2377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61288" y="2560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prompt to every model — logged: who, tool, data type, when.</a:t>
            </a:r>
            <a:endParaRPr lang="en-US" sz="135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27248"/>
            <a:ext cx="237744" cy="2377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61288" y="31089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Findings, classifications &amp; remediation never leave your tenancy.</a:t>
            </a:r>
            <a:endParaRPr lang="en-US" sz="13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675888"/>
            <a:ext cx="237744" cy="23774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61288" y="36576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Immutable on-chain audit trail for high-assurance evidence.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77724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Compliance-ready exports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777240" y="4846320"/>
            <a:ext cx="841248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777240" y="4846320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GDPR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1764792" y="4846320"/>
            <a:ext cx="841248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1764792" y="4846320"/>
            <a:ext cx="8412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CCPA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2752344" y="4846320"/>
            <a:ext cx="960120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3"/>
          <p:cNvSpPr/>
          <p:nvPr/>
        </p:nvSpPr>
        <p:spPr>
          <a:xfrm>
            <a:off x="2752344" y="484632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HIPAA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3858768" y="4846320"/>
            <a:ext cx="960120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3858768" y="4846320"/>
            <a:ext cx="960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SOC 2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965192" y="4846320"/>
            <a:ext cx="1435608" cy="402336"/>
          </a:xfrm>
          <a:prstGeom prst="roundRect">
            <a:avLst>
              <a:gd name="adj" fmla="val 22727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4965192" y="4846320"/>
            <a:ext cx="1435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ISO 27001</a:t>
            </a:r>
            <a:endParaRPr lang="en-US" sz="1100" dirty="0"/>
          </a:p>
        </p:txBody>
      </p:sp>
      <p:pic>
        <p:nvPicPr>
          <p:cNvPr id="24" name="Image 3" descr="assets/pp-logo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11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/bg-clinician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42F">
              <a:alpha val="8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204E">
              <a:alpha val="8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777240" y="708660"/>
            <a:ext cx="109728" cy="109728"/>
          </a:xfrm>
          <a:prstGeom prst="ellipse">
            <a:avLst/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033272" y="6400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PROOF · INNOVATION WITH TRUST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731520" y="137160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“</a:t>
            </a:r>
            <a:endParaRPr lang="en-US" sz="9000" dirty="0"/>
          </a:p>
        </p:txBody>
      </p:sp>
      <p:sp>
        <p:nvSpPr>
          <p:cNvPr id="8" name="Text 5"/>
          <p:cNvSpPr/>
          <p:nvPr/>
        </p:nvSpPr>
        <p:spPr>
          <a:xfrm>
            <a:off x="1463040" y="1783080"/>
            <a:ext cx="9692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We shipped an AI assistant on patient records in six weeks. Legal signed it in two days. That's PrivacyPal Cloud.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1463040" y="3886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2A7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CTO, healthcare SaaS · Series B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77240" y="4663440"/>
            <a:ext cx="10637215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77724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10M+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4406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ELEMENTS GOVERNED IN REAL TIME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79476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Days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3794760" y="54406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NOT QUARTERS, TO LAUNCH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381951" y="4983480"/>
            <a:ext cx="1234440" cy="548640"/>
          </a:xfrm>
          <a:prstGeom prst="roundRect">
            <a:avLst>
              <a:gd name="adj" fmla="val 16667"/>
            </a:avLst>
          </a:prstGeom>
          <a:solidFill>
            <a:srgbClr val="F5F0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28255" y="5111496"/>
            <a:ext cx="941832" cy="292608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780983" y="4983480"/>
            <a:ext cx="1234440" cy="548640"/>
          </a:xfrm>
          <a:prstGeom prst="roundRect">
            <a:avLst>
              <a:gd name="adj" fmla="val 16667"/>
            </a:avLst>
          </a:prstGeom>
          <a:solidFill>
            <a:srgbClr val="F5F0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927287" y="5111496"/>
            <a:ext cx="941832" cy="292608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0180015" y="4983480"/>
            <a:ext cx="1234440" cy="548640"/>
          </a:xfrm>
          <a:prstGeom prst="roundRect">
            <a:avLst>
              <a:gd name="adj" fmla="val 16667"/>
            </a:avLst>
          </a:prstGeom>
          <a:solidFill>
            <a:srgbClr val="F5F0E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0326319" y="5111496"/>
            <a:ext cx="941832" cy="292608"/>
          </a:xfrm>
          <a:prstGeom prst="rect">
            <a:avLst/>
          </a:prstGeom>
        </p:spPr>
      </p:pic>
      <p:pic>
        <p:nvPicPr>
          <p:cNvPr id="21" name="Image 4" descr="assets/pp-logo-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6419088"/>
            <a:ext cx="841248" cy="23302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317175" y="6382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11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204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g/bg-skyline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142F">
              <a:alpha val="7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0" y="1371600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300" dirty="0">
                <a:solidFill>
                  <a:srgbClr val="12A7B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●   THE GOVERNANCE LAYER FOR AI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0" y="1828800"/>
            <a:ext cx="1219169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7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Stop blocking AI.</a:t>
            </a:r>
            <a:endParaRPr lang="en-US" sz="7200" dirty="0"/>
          </a:p>
          <a:p>
            <a:pPr marL="0" indent="0" algn="ctr">
              <a:lnSpc>
                <a:spcPct val="98000"/>
              </a:lnSpc>
              <a:buNone/>
            </a:pPr>
            <a:r>
              <a:rPr lang="en-US" sz="7200" b="1" dirty="0">
                <a:solidFill>
                  <a:srgbClr val="12A7B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Start governing it.</a:t>
            </a:r>
            <a:endParaRPr lang="en-US" sz="7200" dirty="0"/>
          </a:p>
        </p:txBody>
      </p:sp>
      <p:sp>
        <p:nvSpPr>
          <p:cNvPr id="6" name="Text 3"/>
          <p:cNvSpPr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layer that turns AI from your biggest risk into your biggest advantage.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352648" y="4937760"/>
            <a:ext cx="2651760" cy="603504"/>
          </a:xfrm>
          <a:prstGeom prst="roundRect">
            <a:avLst>
              <a:gd name="adj" fmla="val 50000"/>
            </a:avLst>
          </a:prstGeom>
          <a:solidFill>
            <a:srgbClr val="12A7B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352648" y="49377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120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 a demo  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187288" y="4937760"/>
            <a:ext cx="2651760" cy="603504"/>
          </a:xfrm>
          <a:prstGeom prst="roundRect">
            <a:avLst>
              <a:gd name="adj" fmla="val 50000"/>
            </a:avLst>
          </a:prstGeom>
          <a:ln w="12700">
            <a:solidFill>
              <a:srgbClr val="FFFFFF">
                <a:alpha val="36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187288" y="493776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the product intro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0" y="594360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100" dirty="0">
                <a:solidFill>
                  <a:srgbClr val="9DB0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privacypal.ai      ·      Book a demo      ·      Solution Engineering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1151</Words>
  <Application>Microsoft Macintosh PowerPoint</Application>
  <PresentationFormat>Widescreen</PresentationFormat>
  <Paragraphs>168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Inter</vt:lpstr>
      <vt:lpstr>JetBrains Mono</vt:lpstr>
      <vt:lpstr>Space Grotesk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PrivacyPal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PrivacyPal for Enterprise — Govern every AI.</dc:title>
  <dc:subject>PptxGenJS Presentation</dc:subject>
  <dc:creator>PrivacyPal</dc:creator>
  <cp:lastModifiedBy>Jason Melo</cp:lastModifiedBy>
  <cp:revision>2</cp:revision>
  <dcterms:created xsi:type="dcterms:W3CDTF">2026-06-24T19:34:01Z</dcterms:created>
  <dcterms:modified xsi:type="dcterms:W3CDTF">2026-06-24T22:11:40Z</dcterms:modified>
</cp:coreProperties>
</file>